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F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B2A3F"/>
                </a:solidFill>
                <a:latin typeface="+mn-lt"/>
              </a:rPr>
              <a:t>Number of posts by likes (log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5B7D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2K</c:v>
                </c:pt>
                <c:pt idx="1">
                  <c:v>4K</c:v>
                </c:pt>
                <c:pt idx="2">
                  <c:v>7K</c:v>
                </c:pt>
                <c:pt idx="3">
                  <c:v>12K</c:v>
                </c:pt>
                <c:pt idx="4">
                  <c:v>22K</c:v>
                </c:pt>
                <c:pt idx="5">
                  <c:v>41K</c:v>
                </c:pt>
                <c:pt idx="6">
                  <c:v>75K</c:v>
                </c:pt>
                <c:pt idx="7">
                  <c:v>138K</c:v>
                </c:pt>
                <c:pt idx="8">
                  <c:v>253K</c:v>
                </c:pt>
                <c:pt idx="9">
                  <c:v>465K</c:v>
                </c:pt>
                <c:pt idx="10">
                  <c:v>854K</c:v>
                </c:pt>
                <c:pt idx="11">
                  <c:v>1569K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6</c:v>
                </c:pt>
                <c:pt idx="2">
                  <c:v>29</c:v>
                </c:pt>
                <c:pt idx="3">
                  <c:v>59</c:v>
                </c:pt>
                <c:pt idx="4">
                  <c:v>116</c:v>
                </c:pt>
                <c:pt idx="5">
                  <c:v>248</c:v>
                </c:pt>
                <c:pt idx="6">
                  <c:v>428</c:v>
                </c:pt>
                <c:pt idx="7">
                  <c:v>523</c:v>
                </c:pt>
                <c:pt idx="8">
                  <c:v>481</c:v>
                </c:pt>
                <c:pt idx="9">
                  <c:v>288</c:v>
                </c:pt>
                <c:pt idx="10">
                  <c:v>78</c:v>
                </c:pt>
                <c:pt idx="1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DC-4DDE-BA93-640725DB5E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3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F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B2A3F"/>
                </a:solidFill>
                <a:latin typeface="+mn-lt"/>
              </a:rPr>
              <a:t>Validation error (thousand likes), lower is better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5B7D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Forest leaf=5</c:v>
                </c:pt>
                <c:pt idx="1">
                  <c:v>Forest leaf=20</c:v>
                </c:pt>
                <c:pt idx="2">
                  <c:v>Ridge α=100</c:v>
                </c:pt>
                <c:pt idx="3">
                  <c:v>Ridge α=10</c:v>
                </c:pt>
                <c:pt idx="4">
                  <c:v>Linear: log f, log likes</c:v>
                </c:pt>
                <c:pt idx="5">
                  <c:v>Linear: f, log likes</c:v>
                </c:pt>
                <c:pt idx="6">
                  <c:v>Median baseline</c:v>
                </c:pt>
                <c:pt idx="7">
                  <c:v>Linear: f, raw likes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100.3</c:v>
                </c:pt>
                <c:pt idx="1">
                  <c:v>107.4</c:v>
                </c:pt>
                <c:pt idx="2">
                  <c:v>124.5</c:v>
                </c:pt>
                <c:pt idx="3">
                  <c:v>124.5</c:v>
                </c:pt>
                <c:pt idx="4">
                  <c:v>125.3</c:v>
                </c:pt>
                <c:pt idx="5">
                  <c:v>125.9</c:v>
                </c:pt>
                <c:pt idx="6">
                  <c:v>126.2</c:v>
                </c:pt>
                <c:pt idx="7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97-4E9C-B88D-8157A87632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>
              <a:solidFill>
                <a:srgbClr val="D3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F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B2A3F"/>
                </a:solidFill>
                <a:latin typeface="+mn-lt"/>
              </a:rPr>
              <a:t>Validation error (thousand likes)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Metadata + CLIP clusters</c:v>
                </c:pt>
                <c:pt idx="1">
                  <c:v>Metadata forest</c:v>
                </c:pt>
                <c:pt idx="2">
                  <c:v>Metadata + full CLIP</c:v>
                </c:pt>
                <c:pt idx="3">
                  <c:v>CLIP only (Ridge)</c:v>
                </c:pt>
                <c:pt idx="4">
                  <c:v>Median baseline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96.1</c:v>
                </c:pt>
                <c:pt idx="1">
                  <c:v>101.6</c:v>
                </c:pt>
                <c:pt idx="2">
                  <c:v>107.7</c:v>
                </c:pt>
                <c:pt idx="3">
                  <c:v>109.3</c:v>
                </c:pt>
                <c:pt idx="4">
                  <c:v>126.2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09-494E-AD40-7D9E0E31AE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>
              <a:solidFill>
                <a:srgbClr val="D3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F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B2A3F"/>
                </a:solidFill>
                <a:latin typeface="+mn-lt"/>
              </a:rPr>
              <a:t>Test error (thousand likes), 757 newest posts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Metadata + CLIP clusters</c:v>
                </c:pt>
                <c:pt idx="1">
                  <c:v>Metadata forest</c:v>
                </c:pt>
                <c:pt idx="2">
                  <c:v>CLIP only (Ridge)</c:v>
                </c:pt>
                <c:pt idx="3">
                  <c:v>Metadata + full CLIP</c:v>
                </c:pt>
                <c:pt idx="4">
                  <c:v>Median baseline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67.7</c:v>
                </c:pt>
                <c:pt idx="1">
                  <c:v>76.099999999999994</c:v>
                </c:pt>
                <c:pt idx="2">
                  <c:v>97.5</c:v>
                </c:pt>
                <c:pt idx="3">
                  <c:v>104.4</c:v>
                </c:pt>
                <c:pt idx="4">
                  <c:v>124.6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39-4292-8AC4-CD31419BA4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>
              <a:solidFill>
                <a:srgbClr val="D3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F"/>
                </a:solidFill>
                <a:latin typeface="+mn-lt"/>
              </a:defRPr>
            </a:pPr>
            <a:r>
              <a:rPr lang="en-US" sz="1200" b="0" i="0" u="none" strike="noStrike" dirty="0">
                <a:solidFill>
                  <a:srgbClr val="1B2A3F"/>
                </a:solidFill>
                <a:latin typeface="+mn-lt"/>
              </a:rPr>
              <a:t>Test MAE by actual-like quartile (K)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5B7D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Lowest 25%</c:v>
                </c:pt>
                <c:pt idx="1">
                  <c:v>25–50%</c:v>
                </c:pt>
                <c:pt idx="2">
                  <c:v>50–75%</c:v>
                </c:pt>
                <c:pt idx="3">
                  <c:v>Top 25%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47.1</c:v>
                </c:pt>
                <c:pt idx="1">
                  <c:v>33.700000000000003</c:v>
                </c:pt>
                <c:pt idx="2">
                  <c:v>49.7</c:v>
                </c:pt>
                <c:pt idx="3">
                  <c:v>140.30000000000001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84-4E87-8F39-E0DEC67C5A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3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09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C7D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Instagram Likes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 guess how many likes a post will get, using its photo and a few basic details?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Mini Project – Anvit Mirjurkar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3,785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55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posts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2017–2020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755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covered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755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duplicate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124K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755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(median) likes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 by date: the oldest 60% to train, the next 20% to tune and the newest 20% to test. This way the model only predicts posts that come after the ones it learned from.</a:t>
            </a:r>
            <a:endParaRPr lang="en-US" sz="1400" dirty="0"/>
          </a:p>
        </p:txBody>
      </p:sp>
      <p:pic>
        <p:nvPicPr>
          <p:cNvPr id="16" name="Image 0" descr="t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3240"/>
            <a:ext cx="1499616" cy="1499616"/>
          </a:xfrm>
          <a:prstGeom prst="rect">
            <a:avLst/>
          </a:prstGeom>
        </p:spPr>
      </p:pic>
      <p:pic>
        <p:nvPicPr>
          <p:cNvPr id="17" name="Image 1" descr="t1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696" y="3063240"/>
            <a:ext cx="1499616" cy="1499616"/>
          </a:xfrm>
          <a:prstGeom prst="rect">
            <a:avLst/>
          </a:prstGeom>
        </p:spPr>
      </p:pic>
      <p:pic>
        <p:nvPicPr>
          <p:cNvPr id="18" name="Image 2" descr="t11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3063240"/>
            <a:ext cx="1499616" cy="1499616"/>
          </a:xfrm>
          <a:prstGeom prst="rect">
            <a:avLst/>
          </a:prstGeom>
        </p:spPr>
      </p:pic>
      <p:pic>
        <p:nvPicPr>
          <p:cNvPr id="19" name="Image 3" descr="t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3063240"/>
            <a:ext cx="1499616" cy="1499616"/>
          </a:xfrm>
          <a:prstGeom prst="rect">
            <a:avLst/>
          </a:prstGeom>
        </p:spPr>
      </p:pic>
      <p:pic>
        <p:nvPicPr>
          <p:cNvPr id="20" name="Image 4" descr="t2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3063240"/>
            <a:ext cx="1499616" cy="1499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Likes are heavy-tailed; followers explain little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09728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88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posts get around 100K likes, but a few go viral and get millions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of likes is used to even out the spread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alone say little about likes (correlation of only 0.15)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rows dropped: values are all valid, and the log target tames outliers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were left out, since they only appear after posting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Approach: five steps, selected on validation only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Split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774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then 60/20/20 split by time</a:t>
            </a:r>
          </a:p>
        </p:txBody>
      </p:sp>
      <p:sp>
        <p:nvSpPr>
          <p:cNvPr id="8" name="Shape 6"/>
          <p:cNvSpPr/>
          <p:nvPr/>
        </p:nvSpPr>
        <p:spPr>
          <a:xfrm>
            <a:off x="2121408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58568" y="13258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5856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58568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r>
              <a:rPr lang="en-US" sz="1400" b="1" dirty="0">
                <a:solidFill>
                  <a:srgbClr val="2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(8)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2258568" y="23774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Followers, hour, weekday, month and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5616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22776" y="13258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22776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22776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</a:t>
            </a:r>
            <a:r>
              <a:rPr lang="en-US" sz="1400" b="1" dirty="0" err="1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-B/32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3922776" y="23774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encoder, 512-d image embedding</a:t>
            </a:r>
          </a:p>
        </p:txBody>
      </p:sp>
      <p:sp>
        <p:nvSpPr>
          <p:cNvPr id="18" name="Shape 16"/>
          <p:cNvSpPr/>
          <p:nvPr/>
        </p:nvSpPr>
        <p:spPr>
          <a:xfrm>
            <a:off x="5449824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86984" y="13258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86984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86984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clusters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5586984" y="23774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(k=9) on CLIP vectors, one-hot</a:t>
            </a:r>
          </a:p>
        </p:txBody>
      </p:sp>
      <p:sp>
        <p:nvSpPr>
          <p:cNvPr id="23" name="Shape 21"/>
          <p:cNvSpPr/>
          <p:nvPr/>
        </p:nvSpPr>
        <p:spPr>
          <a:xfrm>
            <a:off x="7114032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51192" y="13258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5119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51192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7251192" y="23774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 and Random Forest, compared with a simple guess</a:t>
            </a:r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C7D6EC"/>
          </a:solidFill>
          <a:ln w="12700">
            <a:solidFill>
              <a:srgbClr val="C7D6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score: </a:t>
            </a:r>
            <a:r>
              <a:rPr lang="en-US" sz="1300" dirty="0">
                <a:solidFill>
                  <a:srgbClr val="3B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in likes (also RMSE, RMSLE, R², </a:t>
            </a:r>
            <a:r>
              <a:rPr lang="en-US" sz="1300">
                <a:solidFill>
                  <a:srgbClr val="3B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Spearman)</a:t>
            </a:r>
            <a:r>
              <a:rPr lang="en-US" sz="130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Metadata: only a non-linear model beats the baseline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097280"/>
          <a:ext cx="52120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18872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C7D6EC"/>
          </a:solidFill>
          <a:ln w="12700">
            <a:solidFill>
              <a:srgbClr val="C7D6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2258451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models are no better than guessing the median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finds patterns that lines miss, like the effect of posting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FF1138FF-F893-B6E8-EB6B-CD0D29814703}"/>
              </a:ext>
            </a:extLst>
          </p:cNvPr>
          <p:cNvSpPr/>
          <p:nvPr/>
        </p:nvSpPr>
        <p:spPr>
          <a:xfrm>
            <a:off x="6035040" y="1051560"/>
            <a:ext cx="26517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rgbClr val="FCE9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114279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68109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 baseline (100K vs 126K)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CLIP helps most when compressed into visual clusters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4663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097280"/>
          <a:ext cx="44805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101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all 512 image numbers made things worse. Grouping them into 9 clusters worked the best.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060658"/>
              </p:ext>
            </p:extLst>
          </p:nvPr>
        </p:nvGraphicFramePr>
        <p:xfrm>
          <a:off x="5303520" y="1191065"/>
          <a:ext cx="3383280" cy="27432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likes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03520" y="41124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from images alone span 57K to 209K median likes.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Final test: error cut by 46% vs the baseline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097280"/>
          <a:ext cx="4937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2926080" cy="1051560"/>
          </a:xfrm>
          <a:prstGeom prst="roundRect">
            <a:avLst>
              <a:gd name="adj" fmla="val 1043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C7D6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67.7K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1755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MAE (baseline 124.6K)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228600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0.656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944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(baseline −0.01)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3B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models are refit on train + validation, then scored once on the test 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Where it works, where it fails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3891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641584553"/>
              </p:ext>
            </p:extLst>
          </p:nvPr>
        </p:nvGraphicFramePr>
        <p:xfrm>
          <a:off x="457200" y="1097280"/>
          <a:ext cx="4206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029200" y="2836985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posts: off by about 34K to 50K likes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popular posts are underpredicted. One had 1.0M likes and we guessed 450K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posts: within about 7K to 50K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likes into low, medium and high, it picks the right class 64.7% of the 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4F57A669-FB8B-2398-9453-D5FD24E13930}"/>
              </a:ext>
            </a:extLst>
          </p:cNvPr>
          <p:cNvSpPr/>
          <p:nvPr/>
        </p:nvSpPr>
        <p:spPr>
          <a:xfrm>
            <a:off x="5024628" y="1053905"/>
            <a:ext cx="365760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rgbClr val="F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F623BED-462A-3600-AF77-48BA2B576410}"/>
              </a:ext>
            </a:extLst>
          </p:cNvPr>
          <p:cNvSpPr txBox="1"/>
          <p:nvPr/>
        </p:nvSpPr>
        <p:spPr>
          <a:xfrm>
            <a:off x="5212080" y="110871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2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example: 8192.jpg</a:t>
            </a:r>
            <a:endParaRPr lang="en-US" sz="13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DA235DE7-0997-CF89-A25D-3F245E39A9B3}"/>
              </a:ext>
            </a:extLst>
          </p:cNvPr>
          <p:cNvSpPr txBox="1"/>
          <p:nvPr/>
        </p:nvSpPr>
        <p:spPr>
          <a:xfrm>
            <a:off x="5212080" y="147447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114,786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B0E1D0B0-E0DF-5298-2A80-CCB163F14D71}"/>
              </a:ext>
            </a:extLst>
          </p:cNvPr>
          <p:cNvSpPr txBox="1"/>
          <p:nvPr/>
        </p:nvSpPr>
        <p:spPr>
          <a:xfrm>
            <a:off x="5212080" y="193167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likes</a:t>
            </a: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57A6BD81-043B-68B8-E857-03AFA5F0A6F7}"/>
              </a:ext>
            </a:extLst>
          </p:cNvPr>
          <p:cNvSpPr txBox="1"/>
          <p:nvPr/>
        </p:nvSpPr>
        <p:spPr>
          <a:xfrm>
            <a:off x="6327648" y="147447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" pitchFamily="34" charset="0"/>
                <a:ea typeface="Cambria" pitchFamily="34" charset="-122"/>
              </a:rPr>
              <a:t>107,815</a:t>
            </a: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5B69AEC-3672-4129-9973-5A61D2D065D3}"/>
              </a:ext>
            </a:extLst>
          </p:cNvPr>
          <p:cNvSpPr txBox="1"/>
          <p:nvPr/>
        </p:nvSpPr>
        <p:spPr>
          <a:xfrm>
            <a:off x="6327648" y="193167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likes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D155C9C-F989-5E9E-B13E-DFAD89197F17}"/>
              </a:ext>
            </a:extLst>
          </p:cNvPr>
          <p:cNvSpPr txBox="1"/>
          <p:nvPr/>
        </p:nvSpPr>
        <p:spPr>
          <a:xfrm>
            <a:off x="7443216" y="147447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" pitchFamily="34" charset="0"/>
                <a:ea typeface="Cambria" pitchFamily="34" charset="-122"/>
              </a:rPr>
              <a:t>6,971</a:t>
            </a: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BF67608-0077-2AAB-3D68-8A5E372A88E7}"/>
              </a:ext>
            </a:extLst>
          </p:cNvPr>
          <p:cNvSpPr txBox="1"/>
          <p:nvPr/>
        </p:nvSpPr>
        <p:spPr>
          <a:xfrm>
            <a:off x="7443216" y="193167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0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error (6.5%)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Conclusions, limits and next steps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rgbClr val="C7D6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clusters improved the predictions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alone are not enough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posts are predicted well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4408" y="1143000"/>
            <a:ext cx="2615184" cy="338328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47288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date split and no cross-validation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posts are missed here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 (k=9) chosen on validation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71616" y="1143000"/>
            <a:ext cx="2615184" cy="338328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54496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CLIP or use a different vision transformer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captions, hashtags and account ids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more and different time windows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">
  <a:themeElements>
    <a:clrScheme name="Navy">
      <a:dk1>
        <a:srgbClr val="1B2A3F"/>
      </a:dk1>
      <a:lt1>
        <a:srgbClr val="FFFFFF"/>
      </a:lt1>
      <a:dk2>
        <a:srgbClr val="0F2540"/>
      </a:dk2>
      <a:lt2>
        <a:srgbClr val="FFFFFF"/>
      </a:lt2>
      <a:accent1>
        <a:srgbClr val="2563EB"/>
      </a:accent1>
      <a:accent2>
        <a:srgbClr val="5B7DB1"/>
      </a:accent2>
      <a:accent3>
        <a:srgbClr val="C7D6EC"/>
      </a:accent3>
      <a:accent4>
        <a:srgbClr val="F2B84B"/>
      </a:accent4>
      <a:accent5>
        <a:srgbClr val="9FB3CC"/>
      </a:accent5>
      <a:accent6>
        <a:srgbClr val="3F8F6B"/>
      </a:accent6>
      <a:hlink>
        <a:srgbClr val="2563EB"/>
      </a:hlink>
      <a:folHlink>
        <a:srgbClr val="5B7DB1"/>
      </a:folHlink>
    </a:clrScheme>
    <a:fontScheme name="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609</Words>
  <Application>Microsoft Office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Navy</vt:lpstr>
      <vt:lpstr>PowerPoint Presentation</vt:lpstr>
      <vt:lpstr>Dataset overview</vt:lpstr>
      <vt:lpstr>Likes are heavy-tailed; followers explain little</vt:lpstr>
      <vt:lpstr>Approach: five steps, selected on validation only</vt:lpstr>
      <vt:lpstr>Metadata: only a non-linear model beats the baseline</vt:lpstr>
      <vt:lpstr>CLIP helps most when compressed into visual clusters</vt:lpstr>
      <vt:lpstr>Final test: error cut by 46% vs the baseline</vt:lpstr>
      <vt:lpstr>Where it works, where it fails</vt:lpstr>
      <vt:lpstr>Conclusions, limits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Anvit Mirjurkar</cp:lastModifiedBy>
  <cp:revision>5</cp:revision>
  <dcterms:created xsi:type="dcterms:W3CDTF">2026-10-03T05:26:26Z</dcterms:created>
  <dcterms:modified xsi:type="dcterms:W3CDTF">2026-10-03T07:15:20Z</dcterms:modified>
</cp:coreProperties>
</file>