
<file path=[Content_Types].xml><?xml version="1.0" encoding="utf-8"?>
<Types xmlns="http://schemas.openxmlformats.org/package/2006/content-types">
  <Default Extension="jpg" ContentType="image/jp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charts/chart4.xml" ContentType="application/vnd.openxmlformats-officedocument.drawingml.chart+xml"/>
  <Override PartName="/ppt/notesSlides/notesSlide8.xml" ContentType="application/vnd.openxmlformats-officedocument.presentationml.notesSlide+xml"/>
  <Override PartName="/ppt/charts/chart5.xml" ContentType="application/vnd.openxmlformats-officedocument.drawingml.chart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82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A3F"/>
                </a:solidFill>
                <a:latin typeface="+mn-lt"/>
              </a:defRPr>
            </a:pPr>
            <a:r>
              <a:rPr lang="en-US" sz="1200" b="0" i="0" u="none" strike="noStrike">
                <a:solidFill>
                  <a:srgbClr val="1B2A3F"/>
                </a:solidFill>
                <a:latin typeface="+mn-lt"/>
              </a:rPr>
              <a:t>Number of posts by likes (log scale)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solidFill>
              <a:srgbClr val="5B7DB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3F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2K</c:v>
                </c:pt>
                <c:pt idx="1">
                  <c:v>4K</c:v>
                </c:pt>
                <c:pt idx="2">
                  <c:v>7K</c:v>
                </c:pt>
                <c:pt idx="3">
                  <c:v>12K</c:v>
                </c:pt>
                <c:pt idx="4">
                  <c:v>22K</c:v>
                </c:pt>
                <c:pt idx="5">
                  <c:v>41K</c:v>
                </c:pt>
                <c:pt idx="6">
                  <c:v>75K</c:v>
                </c:pt>
                <c:pt idx="7">
                  <c:v>138K</c:v>
                </c:pt>
                <c:pt idx="8">
                  <c:v>253K</c:v>
                </c:pt>
                <c:pt idx="9">
                  <c:v>465K</c:v>
                </c:pt>
                <c:pt idx="10">
                  <c:v>854K</c:v>
                </c:pt>
                <c:pt idx="11">
                  <c:v>1569K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</c:v>
                </c:pt>
                <c:pt idx="1">
                  <c:v>6</c:v>
                </c:pt>
                <c:pt idx="2">
                  <c:v>29</c:v>
                </c:pt>
                <c:pt idx="3">
                  <c:v>59</c:v>
                </c:pt>
                <c:pt idx="4">
                  <c:v>116</c:v>
                </c:pt>
                <c:pt idx="5">
                  <c:v>248</c:v>
                </c:pt>
                <c:pt idx="6">
                  <c:v>428</c:v>
                </c:pt>
                <c:pt idx="7">
                  <c:v>523</c:v>
                </c:pt>
                <c:pt idx="8">
                  <c:v>481</c:v>
                </c:pt>
                <c:pt idx="9">
                  <c:v>288</c:v>
                </c:pt>
                <c:pt idx="10">
                  <c:v>78</c:v>
                </c:pt>
                <c:pt idx="11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DC-4DDE-BA93-640725DB5E4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D3DC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A3F"/>
                </a:solidFill>
                <a:latin typeface="+mn-lt"/>
              </a:defRPr>
            </a:pPr>
            <a:r>
              <a:rPr lang="en-US" sz="1200" b="0" i="0" u="none" strike="noStrike">
                <a:solidFill>
                  <a:srgbClr val="1B2A3F"/>
                </a:solidFill>
                <a:latin typeface="+mn-lt"/>
              </a:rPr>
              <a:t>Validation error (thousand likes), lower is better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solidFill>
              <a:srgbClr val="5B7DB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3F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Forest leaf=5</c:v>
                </c:pt>
                <c:pt idx="1">
                  <c:v>Forest leaf=20</c:v>
                </c:pt>
                <c:pt idx="2">
                  <c:v>Ridge α=100</c:v>
                </c:pt>
                <c:pt idx="3">
                  <c:v>Ridge α=10</c:v>
                </c:pt>
                <c:pt idx="4">
                  <c:v>Linear: log f, log likes</c:v>
                </c:pt>
                <c:pt idx="5">
                  <c:v>Linear: f, log likes</c:v>
                </c:pt>
                <c:pt idx="6">
                  <c:v>Median baseline</c:v>
                </c:pt>
                <c:pt idx="7">
                  <c:v>Linear: f, raw likes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100.3</c:v>
                </c:pt>
                <c:pt idx="1">
                  <c:v>107.4</c:v>
                </c:pt>
                <c:pt idx="2">
                  <c:v>124.5</c:v>
                </c:pt>
                <c:pt idx="3">
                  <c:v>124.5</c:v>
                </c:pt>
                <c:pt idx="4">
                  <c:v>125.3</c:v>
                </c:pt>
                <c:pt idx="5">
                  <c:v>125.9</c:v>
                </c:pt>
                <c:pt idx="6">
                  <c:v>126.2</c:v>
                </c:pt>
                <c:pt idx="7">
                  <c:v>145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197-4E9C-B88D-8157A87632B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t"/>
        <c:majorGridlines>
          <c:spPr>
            <a:ln w="6350" cap="flat">
              <a:solidFill>
                <a:srgbClr val="D3DC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A3F"/>
                </a:solidFill>
                <a:latin typeface="+mn-lt"/>
              </a:defRPr>
            </a:pPr>
            <a:r>
              <a:rPr lang="en-US" sz="1200" b="0" i="0" u="none" strike="noStrike">
                <a:solidFill>
                  <a:srgbClr val="1B2A3F"/>
                </a:solidFill>
                <a:latin typeface="+mn-lt"/>
              </a:rPr>
              <a:t>Validation error (thousand likes)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3F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Metadata + CLIP clusters</c:v>
                </c:pt>
                <c:pt idx="1">
                  <c:v>Metadata forest</c:v>
                </c:pt>
                <c:pt idx="2">
                  <c:v>Metadata + full CLIP</c:v>
                </c:pt>
                <c:pt idx="3">
                  <c:v>CLIP only (Ridge)</c:v>
                </c:pt>
                <c:pt idx="4">
                  <c:v>Median baseline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96.1</c:v>
                </c:pt>
                <c:pt idx="1">
                  <c:v>101.6</c:v>
                </c:pt>
                <c:pt idx="2">
                  <c:v>107.7</c:v>
                </c:pt>
                <c:pt idx="3">
                  <c:v>109.3</c:v>
                </c:pt>
                <c:pt idx="4">
                  <c:v>126.2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C09-494E-AD40-7D9E0E31AE6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t"/>
        <c:majorGridlines>
          <c:spPr>
            <a:ln w="6350" cap="flat">
              <a:solidFill>
                <a:srgbClr val="D3DC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A3F"/>
                </a:solidFill>
                <a:latin typeface="+mn-lt"/>
              </a:defRPr>
            </a:pPr>
            <a:r>
              <a:rPr lang="en-US" sz="1200" b="0" i="0" u="none" strike="noStrike">
                <a:solidFill>
                  <a:srgbClr val="1B2A3F"/>
                </a:solidFill>
                <a:latin typeface="+mn-lt"/>
              </a:rPr>
              <a:t>Test error (thousand likes), 757 newest posts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3F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Metadata + CLIP clusters</c:v>
                </c:pt>
                <c:pt idx="1">
                  <c:v>Metadata forest</c:v>
                </c:pt>
                <c:pt idx="2">
                  <c:v>CLIP only (Ridge)</c:v>
                </c:pt>
                <c:pt idx="3">
                  <c:v>Metadata + full CLIP</c:v>
                </c:pt>
                <c:pt idx="4">
                  <c:v>Median baseline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67.7</c:v>
                </c:pt>
                <c:pt idx="1">
                  <c:v>76.099999999999994</c:v>
                </c:pt>
                <c:pt idx="2">
                  <c:v>97.5</c:v>
                </c:pt>
                <c:pt idx="3">
                  <c:v>104.4</c:v>
                </c:pt>
                <c:pt idx="4">
                  <c:v>124.6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39-4292-8AC4-CD31419BA4A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t"/>
        <c:majorGridlines>
          <c:spPr>
            <a:ln w="6350" cap="flat">
              <a:solidFill>
                <a:srgbClr val="D3DC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A3F"/>
                </a:solidFill>
                <a:latin typeface="+mn-lt"/>
              </a:defRPr>
            </a:pPr>
            <a:r>
              <a:rPr lang="en-US" sz="1200" b="0" i="0" u="none" strike="noStrike" dirty="0">
                <a:solidFill>
                  <a:srgbClr val="1B2A3F"/>
                </a:solidFill>
                <a:latin typeface="+mn-lt"/>
              </a:rPr>
              <a:t>Test MAE by actual-like quartile (K)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solidFill>
              <a:srgbClr val="5B7DB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3F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Lowest 25%</c:v>
                </c:pt>
                <c:pt idx="1">
                  <c:v>25–50%</c:v>
                </c:pt>
                <c:pt idx="2">
                  <c:v>50–75%</c:v>
                </c:pt>
                <c:pt idx="3">
                  <c:v>Top 25%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47.1</c:v>
                </c:pt>
                <c:pt idx="1">
                  <c:v>33.700000000000003</c:v>
                </c:pt>
                <c:pt idx="2">
                  <c:v>49.7</c:v>
                </c:pt>
                <c:pt idx="3">
                  <c:v>140.30000000000001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B84-4E87-8F39-E0DEC67C5A0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D3DC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00904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C7D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8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jp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Instagram Likes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5603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model guess how many likes a post will get, using its photo and a few basic details?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4486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Mini Project – Anvit Mirjurkar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/>
              <a:t>Dataset overview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920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3,785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5564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 posts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097280"/>
            <a:ext cx="1920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1887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2017–2020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175564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covered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1920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1887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175564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or duplicate rows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097280"/>
            <a:ext cx="1920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1887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124K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175564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(median) likes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Time-based split by date: the oldest 60% to train, the next 20% to tune and the newest 20% to test. This way the model only predicts posts that come after the ones it learned from.</a:t>
            </a:r>
            <a:endParaRPr lang="en-US" sz="1400" dirty="0"/>
          </a:p>
        </p:txBody>
      </p:sp>
      <p:pic>
        <p:nvPicPr>
          <p:cNvPr id="16" name="Image 0" descr="t9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063240"/>
            <a:ext cx="1499616" cy="1499616"/>
          </a:xfrm>
          <a:prstGeom prst="rect">
            <a:avLst/>
          </a:prstGeom>
        </p:spPr>
      </p:pic>
      <p:pic>
        <p:nvPicPr>
          <p:cNvPr id="17" name="Image 1" descr="t1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9696" y="3063240"/>
            <a:ext cx="1499616" cy="1499616"/>
          </a:xfrm>
          <a:prstGeom prst="rect">
            <a:avLst/>
          </a:prstGeom>
        </p:spPr>
      </p:pic>
      <p:pic>
        <p:nvPicPr>
          <p:cNvPr id="18" name="Image 2" descr="t11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2192" y="3063240"/>
            <a:ext cx="1499616" cy="1499616"/>
          </a:xfrm>
          <a:prstGeom prst="rect">
            <a:avLst/>
          </a:prstGeom>
        </p:spPr>
      </p:pic>
      <p:pic>
        <p:nvPicPr>
          <p:cNvPr id="19" name="Image 3" descr="t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4688" y="3063240"/>
            <a:ext cx="1499616" cy="1499616"/>
          </a:xfrm>
          <a:prstGeom prst="rect">
            <a:avLst/>
          </a:prstGeom>
        </p:spPr>
      </p:pic>
      <p:pic>
        <p:nvPicPr>
          <p:cNvPr id="20" name="Image 4" descr="t2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87184" y="3063240"/>
            <a:ext cx="1499616" cy="14996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/>
              <a:t>Likes are heavy-tailed; followers explain little</a:t>
            </a:r>
          </a:p>
        </p:txBody>
      </p:sp>
      <p:sp>
        <p:nvSpPr>
          <p:cNvPr id="3" name="Shape 1"/>
          <p:cNvSpPr/>
          <p:nvPr/>
        </p:nvSpPr>
        <p:spPr>
          <a:xfrm>
            <a:off x="365760" y="1051560"/>
            <a:ext cx="493776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4" name="Chart 0"/>
          <p:cNvGraphicFramePr/>
          <p:nvPr/>
        </p:nvGraphicFramePr>
        <p:xfrm>
          <a:off x="457200" y="1097280"/>
          <a:ext cx="475488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0" y="1188720"/>
            <a:ext cx="3200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posts get around 100K likes, but a few go viral and get millions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of likes is used to even out the spread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 alone say little about likes (correlation of only 0.15)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B3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rows dropped: values are all valid, and the log target tames outliers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Comments were left out, since they only appear after posting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/>
              <a:t>Approach: five steps, selected on validation only</a:t>
            </a:r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325880"/>
            <a:ext cx="411480" cy="4114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745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and Split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377440"/>
            <a:ext cx="1280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Checks, then 60/20/20 split by time</a:t>
            </a:r>
          </a:p>
        </p:txBody>
      </p:sp>
      <p:sp>
        <p:nvSpPr>
          <p:cNvPr id="8" name="Shape 6"/>
          <p:cNvSpPr/>
          <p:nvPr/>
        </p:nvSpPr>
        <p:spPr>
          <a:xfrm>
            <a:off x="2121408" y="118872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58568" y="1325880"/>
            <a:ext cx="411480" cy="4114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58568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258568" y="18745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</a:t>
            </a:r>
            <a:r>
              <a:rPr lang="en-US" sz="1400" b="1" dirty="0">
                <a:solidFill>
                  <a:srgbClr val="2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(8)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2258568" y="2377440"/>
            <a:ext cx="1280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Followers, hour, weekday, month and time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18872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22776" y="1325880"/>
            <a:ext cx="411480" cy="4114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922776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922776" y="18745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</a:t>
            </a:r>
            <a:r>
              <a:rPr lang="en-US" sz="1400" b="1" dirty="0" err="1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</a:t>
            </a:r>
            <a:r>
              <a:rPr lang="en-US" sz="14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-B/32</a:t>
            </a:r>
          </a:p>
        </p:txBody>
      </p:sp>
      <p:sp>
        <p:nvSpPr>
          <p:cNvPr id="17" name="Text 15"/>
          <p:cNvSpPr txBox="1"/>
          <p:nvPr/>
        </p:nvSpPr>
        <p:spPr>
          <a:xfrm>
            <a:off x="3922776" y="2377440"/>
            <a:ext cx="1280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encoder, 512-d image embedding</a:t>
            </a:r>
          </a:p>
        </p:txBody>
      </p:sp>
      <p:sp>
        <p:nvSpPr>
          <p:cNvPr id="18" name="Shape 16"/>
          <p:cNvSpPr/>
          <p:nvPr/>
        </p:nvSpPr>
        <p:spPr>
          <a:xfrm>
            <a:off x="5449824" y="118872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6984" y="1325880"/>
            <a:ext cx="411480" cy="4114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586984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586984" y="18745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clusters</a:t>
            </a:r>
          </a:p>
        </p:txBody>
      </p:sp>
      <p:sp>
        <p:nvSpPr>
          <p:cNvPr id="22" name="Text 20"/>
          <p:cNvSpPr txBox="1"/>
          <p:nvPr/>
        </p:nvSpPr>
        <p:spPr>
          <a:xfrm>
            <a:off x="5586984" y="2377440"/>
            <a:ext cx="1280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 err="1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KMeans</a:t>
            </a:r>
            <a:r>
              <a:rPr lang="en-US" sz="12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(k=9) on CLIP vectors, one-hot</a:t>
            </a:r>
          </a:p>
        </p:txBody>
      </p:sp>
      <p:sp>
        <p:nvSpPr>
          <p:cNvPr id="23" name="Shape 21"/>
          <p:cNvSpPr/>
          <p:nvPr/>
        </p:nvSpPr>
        <p:spPr>
          <a:xfrm>
            <a:off x="7114032" y="118872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251192" y="1325880"/>
            <a:ext cx="411480" cy="4114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251192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251192" y="18745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buNone/>
            </a:pPr>
            <a:r>
              <a:rPr lang="en-US" sz="14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</a:p>
        </p:txBody>
      </p:sp>
      <p:sp>
        <p:nvSpPr>
          <p:cNvPr id="27" name="Text 25"/>
          <p:cNvSpPr txBox="1"/>
          <p:nvPr/>
        </p:nvSpPr>
        <p:spPr>
          <a:xfrm>
            <a:off x="7251192" y="2377440"/>
            <a:ext cx="1280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buNone/>
            </a:pPr>
            <a:r>
              <a:rPr lang="en-US" sz="12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Linear, Ridge and Random Forest, compared with a simple guess</a:t>
            </a:r>
          </a:p>
        </p:txBody>
      </p:sp>
      <p:sp>
        <p:nvSpPr>
          <p:cNvPr id="28" name="Shape 26"/>
          <p:cNvSpPr/>
          <p:nvPr/>
        </p:nvSpPr>
        <p:spPr>
          <a:xfrm>
            <a:off x="457200" y="4023360"/>
            <a:ext cx="8229600" cy="548640"/>
          </a:xfrm>
          <a:prstGeom prst="roundRect">
            <a:avLst>
              <a:gd name="adj" fmla="val 20000"/>
            </a:avLst>
          </a:prstGeom>
          <a:solidFill>
            <a:srgbClr val="C7D6EC"/>
          </a:solidFill>
          <a:ln w="12700">
            <a:solidFill>
              <a:srgbClr val="C7D6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score: </a:t>
            </a:r>
            <a:r>
              <a:rPr lang="en-US" sz="1300" dirty="0">
                <a:solidFill>
                  <a:srgbClr val="3B3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in likes (also RMSE, RMSLE, R², </a:t>
            </a:r>
            <a:r>
              <a:rPr lang="en-US" sz="1300">
                <a:solidFill>
                  <a:srgbClr val="3B3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Spearman)</a:t>
            </a:r>
            <a:r>
              <a:rPr lang="en-US" sz="130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/>
              <a:t>Metadata: only a non-linear model beats the baseline</a:t>
            </a:r>
          </a:p>
        </p:txBody>
      </p:sp>
      <p:sp>
        <p:nvSpPr>
          <p:cNvPr id="3" name="Shape 1"/>
          <p:cNvSpPr/>
          <p:nvPr/>
        </p:nvSpPr>
        <p:spPr>
          <a:xfrm>
            <a:off x="365760" y="1051560"/>
            <a:ext cx="539496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4" name="Chart 0"/>
          <p:cNvGraphicFramePr/>
          <p:nvPr/>
        </p:nvGraphicFramePr>
        <p:xfrm>
          <a:off x="457200" y="1097280"/>
          <a:ext cx="521208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035040" y="1188720"/>
            <a:ext cx="2651760" cy="1051560"/>
          </a:xfrm>
          <a:prstGeom prst="roundRect">
            <a:avLst>
              <a:gd name="adj" fmla="val 10435"/>
            </a:avLst>
          </a:prstGeom>
          <a:solidFill>
            <a:srgbClr val="C7D6EC"/>
          </a:solidFill>
          <a:ln w="12700">
            <a:solidFill>
              <a:srgbClr val="C7D6E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35040" y="2258451"/>
            <a:ext cx="2651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Straight-line models are no better than guessing the median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finds patterns that lines miss, like the effect of posting time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FF1138FF-F893-B6E8-EB6B-CD0D29814703}"/>
              </a:ext>
            </a:extLst>
          </p:cNvPr>
          <p:cNvSpPr/>
          <p:nvPr/>
        </p:nvSpPr>
        <p:spPr>
          <a:xfrm>
            <a:off x="6035040" y="1051560"/>
            <a:ext cx="26517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rgbClr val="FCE9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ext 3"/>
          <p:cNvSpPr txBox="1"/>
          <p:nvPr/>
        </p:nvSpPr>
        <p:spPr>
          <a:xfrm>
            <a:off x="6172200" y="1114279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−20%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172200" y="168109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800"/>
              </a:spcAft>
              <a:buSzPct val="100000"/>
            </a:pPr>
            <a:r>
              <a:rPr lang="en-US" sz="12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vs baseline (100K vs 126K)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/>
              <a:t>CLIP helps most when compressed into visual clusters</a:t>
            </a:r>
          </a:p>
        </p:txBody>
      </p:sp>
      <p:sp>
        <p:nvSpPr>
          <p:cNvPr id="3" name="Shape 1"/>
          <p:cNvSpPr/>
          <p:nvPr/>
        </p:nvSpPr>
        <p:spPr>
          <a:xfrm>
            <a:off x="365760" y="1188720"/>
            <a:ext cx="46634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4" name="Chart 0"/>
          <p:cNvGraphicFramePr/>
          <p:nvPr/>
        </p:nvGraphicFramePr>
        <p:xfrm>
          <a:off x="457200" y="1097280"/>
          <a:ext cx="4480560" cy="2560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021016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all 512 image numbers made things worse. Grouping them into 9 clusters worked the best.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3060658"/>
              </p:ext>
            </p:extLst>
          </p:nvPr>
        </p:nvGraphicFramePr>
        <p:xfrm>
          <a:off x="5303520" y="1191065"/>
          <a:ext cx="3383280" cy="274320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likes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209K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303520" y="411245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from images alone span 57K to 209K median likes.</a:t>
            </a:r>
          </a:p>
          <a:p>
            <a:pPr marL="0" indent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/>
              <a:t>Final test: error cut by 46% vs the baseline</a:t>
            </a:r>
          </a:p>
        </p:txBody>
      </p:sp>
      <p:sp>
        <p:nvSpPr>
          <p:cNvPr id="3" name="Shape 1"/>
          <p:cNvSpPr/>
          <p:nvPr/>
        </p:nvSpPr>
        <p:spPr>
          <a:xfrm>
            <a:off x="365760" y="105156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4" name="Chart 0"/>
          <p:cNvGraphicFramePr/>
          <p:nvPr/>
        </p:nvGraphicFramePr>
        <p:xfrm>
          <a:off x="457200" y="1097280"/>
          <a:ext cx="493776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760720" y="1097280"/>
            <a:ext cx="2926080" cy="1051560"/>
          </a:xfrm>
          <a:prstGeom prst="roundRect">
            <a:avLst>
              <a:gd name="adj" fmla="val 10435"/>
            </a:avLst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rgbClr val="C7D6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897880" y="11887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67.7K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97880" y="175564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Test MAE (baseline 124.6K)</a:t>
            </a:r>
          </a:p>
          <a:p>
            <a:pPr marL="0" indent="0">
              <a:buNone/>
            </a:pP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760720" y="22860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97880" y="2377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0.656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5897880" y="294436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(baseline −0.01)</a:t>
            </a:r>
          </a:p>
          <a:p>
            <a:pPr marL="0" indent="0">
              <a:buNone/>
            </a:pP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760720" y="35204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rgbClr val="3B3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models are refit on train + validation, then scored once on the test set.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/>
              <a:t>Where it works, where it fails</a:t>
            </a:r>
          </a:p>
        </p:txBody>
      </p:sp>
      <p:sp>
        <p:nvSpPr>
          <p:cNvPr id="3" name="Shape 1"/>
          <p:cNvSpPr/>
          <p:nvPr/>
        </p:nvSpPr>
        <p:spPr>
          <a:xfrm>
            <a:off x="365760" y="1051560"/>
            <a:ext cx="43891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3641584553"/>
              </p:ext>
            </p:extLst>
          </p:nvPr>
        </p:nvGraphicFramePr>
        <p:xfrm>
          <a:off x="457200" y="1097280"/>
          <a:ext cx="420624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5029200" y="2836985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posts: off by about 34K to 50K likes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popular posts are underpredicted. One had 1.0M likes and we guessed 450K</a:t>
            </a:r>
          </a:p>
          <a:p>
            <a:pPr marL="342900" indent="-342900">
              <a:spcAft>
                <a:spcPts val="800"/>
              </a:spcAft>
              <a:buSzPct val="100000"/>
              <a:buFontTx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posts: within about 7K to 50K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Splitting likes into low, medium and high, it picks the right class 64.7% of the time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F57A669-FB8B-2398-9453-D5FD24E13930}"/>
              </a:ext>
            </a:extLst>
          </p:cNvPr>
          <p:cNvSpPr/>
          <p:nvPr/>
        </p:nvSpPr>
        <p:spPr>
          <a:xfrm>
            <a:off x="5024628" y="1053905"/>
            <a:ext cx="3657600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rgbClr val="FCE9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2F623BED-462A-3600-AF77-48BA2B576410}"/>
              </a:ext>
            </a:extLst>
          </p:cNvPr>
          <p:cNvSpPr txBox="1"/>
          <p:nvPr/>
        </p:nvSpPr>
        <p:spPr>
          <a:xfrm>
            <a:off x="5212080" y="110871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00" b="1" dirty="0">
                <a:solidFill>
                  <a:srgbClr val="2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 example: 8192.jpg</a:t>
            </a:r>
            <a:endParaRPr lang="en-US" sz="1300" dirty="0"/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DA235DE7-0997-CF89-A25D-3F245E39A9B3}"/>
              </a:ext>
            </a:extLst>
          </p:cNvPr>
          <p:cNvSpPr txBox="1"/>
          <p:nvPr/>
        </p:nvSpPr>
        <p:spPr>
          <a:xfrm>
            <a:off x="5212080" y="147447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114,786</a:t>
            </a:r>
            <a:endParaRPr lang="en-US" sz="20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B0E1D0B0-E0DF-5298-2A80-CCB163F14D71}"/>
              </a:ext>
            </a:extLst>
          </p:cNvPr>
          <p:cNvSpPr txBox="1"/>
          <p:nvPr/>
        </p:nvSpPr>
        <p:spPr>
          <a:xfrm>
            <a:off x="5212080" y="193167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likes</a:t>
            </a:r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57A6BD81-043B-68B8-E857-03AFA5F0A6F7}"/>
              </a:ext>
            </a:extLst>
          </p:cNvPr>
          <p:cNvSpPr txBox="1"/>
          <p:nvPr/>
        </p:nvSpPr>
        <p:spPr>
          <a:xfrm>
            <a:off x="6327648" y="147447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ambria" pitchFamily="34" charset="0"/>
                <a:ea typeface="Cambria" pitchFamily="34" charset="-122"/>
              </a:rPr>
              <a:t>107,815</a:t>
            </a:r>
          </a:p>
        </p:txBody>
      </p:sp>
      <p:sp>
        <p:nvSpPr>
          <p:cNvPr id="17" name="Text 6">
            <a:extLst>
              <a:ext uri="{FF2B5EF4-FFF2-40B4-BE49-F238E27FC236}">
                <a16:creationId xmlns:a16="http://schemas.microsoft.com/office/drawing/2014/main" id="{85B69AEC-3672-4129-9973-5A61D2D065D3}"/>
              </a:ext>
            </a:extLst>
          </p:cNvPr>
          <p:cNvSpPr txBox="1"/>
          <p:nvPr/>
        </p:nvSpPr>
        <p:spPr>
          <a:xfrm>
            <a:off x="6327648" y="193167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likes</a:t>
            </a: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0D155C9C-F989-5E9E-B13E-DFAD89197F17}"/>
              </a:ext>
            </a:extLst>
          </p:cNvPr>
          <p:cNvSpPr txBox="1"/>
          <p:nvPr/>
        </p:nvSpPr>
        <p:spPr>
          <a:xfrm>
            <a:off x="7443216" y="147447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ambria" pitchFamily="34" charset="0"/>
                <a:ea typeface="Cambria" pitchFamily="34" charset="-122"/>
              </a:rPr>
              <a:t>6,971</a:t>
            </a:r>
          </a:p>
        </p:txBody>
      </p:sp>
      <p:sp>
        <p:nvSpPr>
          <p:cNvPr id="19" name="Text 8">
            <a:extLst>
              <a:ext uri="{FF2B5EF4-FFF2-40B4-BE49-F238E27FC236}">
                <a16:creationId xmlns:a16="http://schemas.microsoft.com/office/drawing/2014/main" id="{1BF67608-0077-2AAB-3D68-8A5E372A88E7}"/>
              </a:ext>
            </a:extLst>
          </p:cNvPr>
          <p:cNvSpPr txBox="1"/>
          <p:nvPr/>
        </p:nvSpPr>
        <p:spPr>
          <a:xfrm>
            <a:off x="7443216" y="193167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None/>
            </a:pPr>
            <a:r>
              <a:rPr lang="en-US" sz="10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error (6.5%)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/>
              <a:t>Conclusions, limits and next steps</a:t>
            </a:r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2615184" cy="338328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rgbClr val="C7D6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80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83080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clusters improved the predictions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 alone are not enough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posts are predicted well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64408" y="1143000"/>
            <a:ext cx="2615184" cy="338328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47288" y="1280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447288" y="1783080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date split and no cross-validation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posts are missed here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clusters (k=9) chosen on validation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71616" y="1143000"/>
            <a:ext cx="2615184" cy="338328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54496" y="1280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254496" y="1783080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CLIP or use a different vision transformer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captions, hashtags </a:t>
            </a:r>
            <a:r>
              <a:rPr lang="en-US" sz="140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creator account IDs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more and different time windows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avy">
  <a:themeElements>
    <a:clrScheme name="Navy">
      <a:dk1>
        <a:srgbClr val="1B2A3F"/>
      </a:dk1>
      <a:lt1>
        <a:srgbClr val="FFFFFF"/>
      </a:lt1>
      <a:dk2>
        <a:srgbClr val="0F2540"/>
      </a:dk2>
      <a:lt2>
        <a:srgbClr val="FFFFFF"/>
      </a:lt2>
      <a:accent1>
        <a:srgbClr val="2563EB"/>
      </a:accent1>
      <a:accent2>
        <a:srgbClr val="5B7DB1"/>
      </a:accent2>
      <a:accent3>
        <a:srgbClr val="C7D6EC"/>
      </a:accent3>
      <a:accent4>
        <a:srgbClr val="F2B84B"/>
      </a:accent4>
      <a:accent5>
        <a:srgbClr val="9FB3CC"/>
      </a:accent5>
      <a:accent6>
        <a:srgbClr val="3F8F6B"/>
      </a:accent6>
      <a:hlink>
        <a:srgbClr val="2563EB"/>
      </a:hlink>
      <a:folHlink>
        <a:srgbClr val="5B7DB1"/>
      </a:folHlink>
    </a:clrScheme>
    <a:fontScheme name="Nav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610</Words>
  <Application>Microsoft Office PowerPoint</Application>
  <PresentationFormat>On-screen Show (16:9)</PresentationFormat>
  <Paragraphs>127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</vt:lpstr>
      <vt:lpstr>Navy</vt:lpstr>
      <vt:lpstr>PowerPoint Presentation</vt:lpstr>
      <vt:lpstr>Dataset overview</vt:lpstr>
      <vt:lpstr>Likes are heavy-tailed; followers explain little</vt:lpstr>
      <vt:lpstr>Approach: five steps, selected on validation only</vt:lpstr>
      <vt:lpstr>Metadata: only a non-linear model beats the baseline</vt:lpstr>
      <vt:lpstr>CLIP helps most when compressed into visual clusters</vt:lpstr>
      <vt:lpstr>Final test: error cut by 46% vs the baseline</vt:lpstr>
      <vt:lpstr>Where it works, where it fails</vt:lpstr>
      <vt:lpstr>Conclusions, limits and next steps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/>
  <cp:lastModifiedBy>Anvit Mirjurkar</cp:lastModifiedBy>
  <cp:revision>8</cp:revision>
  <dcterms:created xsi:type="dcterms:W3CDTF">2026-10-03T05:26:26Z</dcterms:created>
  <dcterms:modified xsi:type="dcterms:W3CDTF">2026-10-03T08:47:42Z</dcterms:modified>
</cp:coreProperties>
</file>